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Differentiable Monte Carlo</a:t>
            </a:r>
          </a:p>
          <a:p>
            <a:pPr algn="ctr">
              <a:defRPr sz="2000"/>
            </a:pPr>
            <a:r>
              <a:t>Progress Update — 03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Create a differentiable MC simulation for parameter estimation in NV center spectroscopy</a:t>
            </a:r>
          </a:p>
          <a:p>
            <a:pPr>
              <a:spcAft>
                <a:spcPts val="800"/>
              </a:spcAft>
              <a:defRPr sz="1800"/>
            </a:pPr>
            <a:r>
              <a:t>Input: n and gamma → Output: optimizable loss function</a:t>
            </a:r>
          </a:p>
          <a:p>
            <a:pPr>
              <a:spcAft>
                <a:spcPts val="800"/>
              </a:spcAft>
              <a:defRPr sz="1800"/>
            </a:pPr>
            <a:r>
              <a:t>Replace grid search with gradient-based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Toy Examples</a:t>
            </a:r>
          </a:p>
          <a:p>
            <a:pPr algn="ctr">
              <a:defRPr sz="2000"/>
            </a:pPr>
            <a:r>
              <a:t>Building intuition step by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Toy Example — Optimizing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n sampled from N(n, sigma)</a:t>
            </a:r>
          </a:p>
          <a:p>
            <a:pPr>
              <a:spcAft>
                <a:spcPts val="800"/>
              </a:spcAft>
              <a:defRPr sz="1800"/>
            </a:pPr>
            <a:r>
              <a:t>For loop adds +1 per iteration (simulating run count)</a:t>
            </a:r>
          </a:p>
          <a:p>
            <a:pPr>
              <a:spcAft>
                <a:spcPts val="800"/>
              </a:spcAft>
              <a:defRPr sz="1800"/>
            </a:pPr>
            <a:r>
              <a:t>Loss: compare prediction to a target</a:t>
            </a:r>
          </a:p>
          <a:p>
            <a:pPr>
              <a:spcAft>
                <a:spcPts val="800"/>
              </a:spcAft>
              <a:defRPr sz="1800"/>
            </a:pPr>
            <a:r>
              <a:t>Gradient flows through the sampling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n Optimization — Results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n Optimization — Convergence</a:t>
            </a:r>
          </a:p>
        </p:txBody>
      </p:sp>
      <p:pic>
        <p:nvPicPr>
          <p:cNvPr id="3" name="Picture 2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Toy Example — Optimizing 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Sample points from a Gaussian distribution</a:t>
            </a:r>
          </a:p>
          <a:p>
            <a:pPr>
              <a:spcAft>
                <a:spcPts val="800"/>
              </a:spcAft>
              <a:defRPr sz="1800"/>
            </a:pPr>
            <a:r>
              <a:t>Square them, fit a pseudo-Voigt</a:t>
            </a:r>
          </a:p>
          <a:p>
            <a:pPr>
              <a:spcAft>
                <a:spcPts val="800"/>
              </a:spcAft>
              <a:defRPr sz="1800"/>
            </a:pPr>
            <a:r>
              <a:t>Extract FWHM from the fit</a:t>
            </a:r>
          </a:p>
          <a:p>
            <a:pPr>
              <a:spcAft>
                <a:spcPts val="800"/>
              </a:spcAft>
              <a:defRPr sz="1800"/>
            </a:pPr>
            <a:r>
              <a:t>Compare FWHM to a target and backpropagate</a:t>
            </a:r>
          </a:p>
          <a:p>
            <a:pPr>
              <a:spcAft>
                <a:spcPts val="800"/>
              </a:spcAft>
              <a:defRPr sz="1800"/>
            </a:pPr>
            <a:r>
              <a:t>This tests: can we differentiate through a fit?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Sigma Optimization — Setup</a:t>
            </a:r>
          </a:p>
        </p:txBody>
      </p:sp>
      <p:pic>
        <p:nvPicPr>
          <p:cNvPr id="3" name="Picture 2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Sigma Optimization — Results</a:t>
            </a:r>
          </a:p>
        </p:txBody>
      </p:sp>
      <p:pic>
        <p:nvPicPr>
          <p:cNvPr id="3" name="Picture 2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Exploratory Data Analysis</a:t>
            </a:r>
          </a:p>
          <a:p>
            <a:pPr algn="ctr">
              <a:defRPr sz="2000"/>
            </a:pPr>
            <a:r>
              <a:t>Understanding the experimental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Data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Two laser powers: 1 nW and 3 nW</a:t>
            </a:r>
          </a:p>
          <a:p>
            <a:pPr>
              <a:spcAft>
                <a:spcPts val="800"/>
              </a:spcAft>
              <a:defRPr sz="1800"/>
            </a:pPr>
            <a:r>
              <a:t>Transmission values: [5, 10, 20, 40, 60, 80, 100]</a:t>
            </a:r>
          </a:p>
          <a:p>
            <a:pPr>
              <a:spcAft>
                <a:spcPts val="800"/>
              </a:spcAft>
              <a:defRPr sz="1800"/>
            </a:pPr>
            <a:r>
              <a:t>Each combination has multiple experimental runs</a:t>
            </a:r>
          </a:p>
          <a:p>
            <a:pPr>
              <a:spcAft>
                <a:spcPts val="800"/>
              </a:spcAft>
              <a:defRPr sz="1800"/>
            </a:pPr>
            <a:r>
              <a:t>Goal: understand the distribution of FWHM values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Experimental Data Overview</a:t>
            </a:r>
          </a:p>
        </p:txBody>
      </p:sp>
      <p:pic>
        <p:nvPicPr>
          <p:cNvPr id="3" name="Picture 2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2926080"/>
          </a:xfrm>
          <a:prstGeom prst="rect">
            <a:avLst/>
          </a:prstGeom>
        </p:spPr>
      </p:pic>
      <p:pic>
        <p:nvPicPr>
          <p:cNvPr id="4" name="Picture 3" descr="imag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029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Success Rate vs Transmission</a:t>
            </a:r>
          </a:p>
        </p:txBody>
      </p:sp>
      <p:pic>
        <p:nvPicPr>
          <p:cNvPr id="3" name="Picture 2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Key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Higher transmission → fewer NaN values</a:t>
            </a:r>
          </a:p>
          <a:p>
            <a:pPr>
              <a:spcAft>
                <a:spcPts val="800"/>
              </a:spcAft>
              <a:defRPr sz="1800"/>
            </a:pPr>
            <a:r>
              <a:t>The more signal, the more reliable the measurement</a:t>
            </a:r>
          </a:p>
          <a:p>
            <a:pPr>
              <a:spcAft>
                <a:spcPts val="800"/>
              </a:spcAft>
              <a:defRPr sz="1800"/>
            </a:pPr>
            <a:r>
              <a:t>Clear pattern for both 1 nW and 3 nW laser power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FWHM Distribution — Log Scale</a:t>
            </a:r>
          </a:p>
        </p:txBody>
      </p:sp>
      <p:pic>
        <p:nvPicPr>
          <p:cNvPr id="3" name="Picture 2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Why Log Scale?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FWHM values are spread across multiple orders of magnitude</a:t>
            </a:r>
          </a:p>
          <a:p>
            <a:pPr>
              <a:spcAft>
                <a:spcPts val="800"/>
              </a:spcAft>
              <a:defRPr sz="1800"/>
            </a:pPr>
            <a:r>
              <a:t>Log scaling reveals structure hidden by extreme values</a:t>
            </a:r>
          </a:p>
          <a:p>
            <a:pPr>
              <a:spcAft>
                <a:spcPts val="800"/>
              </a:spcAft>
              <a:defRPr sz="1800"/>
            </a:pPr>
            <a:r>
              <a:t>Makes sense for parameter estimation in log-space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FWHM Distributions by Transmission</a:t>
            </a:r>
          </a:p>
        </p:txBody>
      </p:sp>
      <p:pic>
        <p:nvPicPr>
          <p:cNvPr id="3" name="Picture 2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High transmission: clear, well-defined FWHM distribution</a:t>
            </a:r>
          </a:p>
          <a:p>
            <a:pPr>
              <a:spcAft>
                <a:spcPts val="800"/>
              </a:spcAft>
              <a:defRPr sz="1800"/>
            </a:pPr>
            <a:r>
              <a:t>Low transmission: wider, noisier distribution</a:t>
            </a:r>
          </a:p>
          <a:p>
            <a:pPr>
              <a:spcAft>
                <a:spcPts val="800"/>
              </a:spcAft>
              <a:defRPr sz="1800"/>
            </a:pPr>
            <a:r>
              <a:t>Expected: more signal → better estimates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FWHM / FWHM Fit Error</a:t>
            </a:r>
          </a:p>
        </p:txBody>
      </p:sp>
      <p:pic>
        <p:nvPicPr>
          <p:cNvPr id="3" name="Picture 2" descr="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Smaller FWHM → higher relative fit error</a:t>
            </a:r>
          </a:p>
          <a:p>
            <a:pPr>
              <a:spcAft>
                <a:spcPts val="800"/>
              </a:spcAft>
              <a:defRPr sz="1800"/>
            </a:pPr>
            <a:r>
              <a:t>Especially problematic for extremely small FWHM values</a:t>
            </a:r>
          </a:p>
          <a:p>
            <a:pPr>
              <a:spcAft>
                <a:spcPts val="800"/>
              </a:spcAft>
              <a:defRPr sz="1800"/>
            </a:pPr>
            <a:r>
              <a:t>Important constraint for the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Important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FWHM values are CONTINUOUS, not binned!</a:t>
            </a:r>
          </a:p>
          <a:p>
            <a:pPr>
              <a:spcAft>
                <a:spcPts val="800"/>
              </a:spcAft>
              <a:defRPr sz="1800"/>
            </a:pPr>
            <a:r>
              <a:t>This simplifies the loss function significantly</a:t>
            </a:r>
          </a:p>
          <a:p>
            <a:pPr>
              <a:spcAft>
                <a:spcPts val="800"/>
              </a:spcAft>
              <a:defRPr sz="1800"/>
            </a:pPr>
            <a:r>
              <a:t>We can use continuous divergence measures instead of histogram comparisons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MMD² Loss</a:t>
            </a:r>
          </a:p>
          <a:p>
            <a:pPr algn="ctr">
              <a:defRPr sz="2000"/>
            </a:pPr>
            <a:r>
              <a:t>Maximum Mean Discrepancy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What is MMD²?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A kernel-based distance between two distributions</a:t>
            </a:r>
          </a:p>
          <a:p>
            <a:pPr>
              <a:spcAft>
                <a:spcPts val="800"/>
              </a:spcAft>
              <a:defRPr sz="1800"/>
            </a:pPr>
            <a:r>
              <a:t>Compares two sets of samples without binning</a:t>
            </a:r>
          </a:p>
          <a:p>
            <a:pPr>
              <a:spcAft>
                <a:spcPts val="800"/>
              </a:spcAft>
              <a:defRPr sz="1800"/>
            </a:pPr>
            <a:r>
              <a:t>Smooth and differentiable — perfect for gradient-based optimization</a:t>
            </a:r>
          </a:p>
          <a:p>
            <a:pPr>
              <a:spcAft>
                <a:spcPts val="800"/>
              </a:spcAft>
              <a:defRPr sz="1800"/>
            </a:pPr>
            <a:r>
              <a:t>Tested on real data: (transmission=60, power=3 nW)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MMD² Optimization — Step by Step</a:t>
            </a:r>
          </a:p>
        </p:txBody>
      </p:sp>
      <p:pic>
        <p:nvPicPr>
          <p:cNvPr id="3" name="Picture 2" descr="im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2926080"/>
          </a:xfrm>
          <a:prstGeom prst="rect">
            <a:avLst/>
          </a:prstGeom>
        </p:spPr>
      </p:pic>
      <p:pic>
        <p:nvPicPr>
          <p:cNvPr id="4" name="Picture 3" descr="imag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029200" cy="2926080"/>
          </a:xfrm>
          <a:prstGeom prst="rect">
            <a:avLst/>
          </a:prstGeom>
        </p:spPr>
      </p:pic>
      <p:pic>
        <p:nvPicPr>
          <p:cNvPr id="5" name="Picture 4" descr="image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5029200" cy="2926080"/>
          </a:xfrm>
          <a:prstGeom prst="rect">
            <a:avLst/>
          </a:prstGeom>
        </p:spPr>
      </p:pic>
      <p:pic>
        <p:nvPicPr>
          <p:cNvPr id="6" name="Picture 5" descr="image-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31920"/>
            <a:ext cx="5029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MMD² Optimization — Complete</a:t>
            </a:r>
          </a:p>
        </p:txBody>
      </p:sp>
      <p:pic>
        <p:nvPicPr>
          <p:cNvPr id="3" name="Picture 2" descr="im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Sigma Tuning for MMD²</a:t>
            </a:r>
          </a:p>
        </p:txBody>
      </p:sp>
      <p:pic>
        <p:nvPicPr>
          <p:cNvPr id="3" name="Picture 2" descr="im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Sigma Choice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The kernel bandwidth sigma affects the optimization landscape</a:t>
            </a:r>
          </a:p>
          <a:p>
            <a:pPr>
              <a:spcAft>
                <a:spcPts val="800"/>
              </a:spcAft>
              <a:defRPr sz="1800"/>
            </a:pPr>
            <a:r>
              <a:t>Different sigma values → different results</a:t>
            </a:r>
          </a:p>
          <a:p>
            <a:pPr>
              <a:spcAft>
                <a:spcPts val="800"/>
              </a:spcAft>
              <a:defRPr sz="1800"/>
            </a:pPr>
            <a:r>
              <a:t>Needs more experimentation to find the optimal sigma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Conclusion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d(Loss)/d(FWHM) is computable — gradient flows through MMD²</a:t>
            </a:r>
          </a:p>
          <a:p>
            <a:pPr>
              <a:spcAft>
                <a:spcPts val="800"/>
              </a:spcAft>
              <a:defRPr sz="1800"/>
            </a:pPr>
            <a:r>
              <a:t>Next step: compute d(FWHM)/d(frequencies)</a:t>
            </a:r>
          </a:p>
          <a:p>
            <a:pPr>
              <a:spcAft>
                <a:spcPts val="800"/>
              </a:spcAft>
              <a:defRPr sz="1800"/>
            </a:pPr>
            <a:r>
              <a:t>Chain rule: dLoss/d(params) = dLoss/dFWHM × dFWHM/d(freqs)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Gamma Optimization</a:t>
            </a:r>
          </a:p>
          <a:p>
            <a:pPr algn="ctr">
              <a:defRPr sz="2000"/>
            </a:pPr>
            <a:r>
              <a:t>End-to-end 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Gamma Differentiable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Created synthetic data with a known gamma</a:t>
            </a:r>
          </a:p>
          <a:p>
            <a:pPr>
              <a:spcAft>
                <a:spcPts val="800"/>
              </a:spcAft>
              <a:defRPr sz="1800"/>
            </a:pPr>
            <a:r>
              <a:t>Applied MMD² loss between synthetic and target</a:t>
            </a:r>
          </a:p>
          <a:p>
            <a:pPr>
              <a:spcAft>
                <a:spcPts val="800"/>
              </a:spcAft>
              <a:defRPr sz="1800"/>
            </a:pPr>
            <a:r>
              <a:t>Tested: can the gradient reach gamma?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Gamma Optimization — Results</a:t>
            </a:r>
          </a:p>
        </p:txBody>
      </p:sp>
      <p:pic>
        <p:nvPicPr>
          <p:cNvPr id="3" name="Picture 2" descr="im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800"/>
            </a:pPr>
            <a:r>
              <a:t>1. Connect all pieces: sampling → fitting → loss → gradient</a:t>
            </a:r>
          </a:p>
          <a:p>
            <a:pPr>
              <a:spcAft>
                <a:spcPts val="800"/>
              </a:spcAft>
              <a:defRPr sz="1800"/>
            </a:pPr>
            <a:r>
              <a:t>2. Test on real experimental data</a:t>
            </a:r>
          </a:p>
          <a:p>
            <a:pPr>
              <a:spcAft>
                <a:spcPts val="800"/>
              </a:spcAft>
              <a:defRPr sz="1800"/>
            </a:pPr>
            <a:r>
              <a:t>3. Optimize sigma kernel parameter</a:t>
            </a:r>
          </a:p>
          <a:p>
            <a:pPr>
              <a:spcAft>
                <a:spcPts val="800"/>
              </a:spcAft>
              <a:defRPr sz="1800"/>
            </a:pPr>
            <a:r>
              <a:t>4. Explore d(FWHM)/d(frequencies) chain</a:t>
            </a:r>
          </a:p>
          <a:p>
            <a:pPr>
              <a:spcAft>
                <a:spcPts val="800"/>
              </a:spcAft>
              <a:defRPr sz="1800"/>
            </a:pPr>
            <a:r>
              <a:t>5. Compare with grid search results from the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